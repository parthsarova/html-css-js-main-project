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9"/>
    <p:sldId id="260" r:id="rId10"/>
    <p:sldId id="261" r:id="rId11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theme" Target="theme/theme2.xml"/>
  <Relationship Id="rId2" Type="http://schemas.openxmlformats.org/officeDocument/2006/relationships/viewProps" Target="viewProps.xml"/>
  <Relationship Id="rId3" Type="http://schemas.openxmlformats.org/officeDocument/2006/relationships/presProps" Target="presProps.xml"/>
  <Relationship Id="rId4" Type="http://schemas.openxmlformats.org/officeDocument/2006/relationships/slideMaster" Target="slideMasters/slideMaster1.xml"/>
  <Relationship Id="rId5" Type="http://schemas.openxmlformats.org/officeDocument/2006/relationships/notesMaster" Target="notesMasters/notesMaster1.xml"/>
  <Relationship Id="rId6" Type="http://schemas.openxmlformats.org/officeDocument/2006/relationships/slide" Target="slides/slide1.xml"/>
  <Relationship Id="rId7" Type="http://schemas.openxmlformats.org/officeDocument/2006/relationships/slide" Target="slides/slide2.xml"/>
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11" Type="http://schemas.openxmlformats.org/officeDocument/2006/relationships/slideLayout" Target="../slideLayouts/slideLayout11.xml"/>
  <Relationship Id="rId10" Type="http://schemas.openxmlformats.org/officeDocument/2006/relationships/slideLayout" Target="../slideLayouts/slideLayout10.xml"/>
  <Relationship Id="rId12" Type="http://schemas.openxmlformats.org/officeDocument/2006/relationships/theme" Target="../theme/theme2.xml"/>
  <Relationship Id="rId9" Type="http://schemas.openxmlformats.org/officeDocument/2006/relationships/slideLayout" Target="../slideLayouts/slideLayout9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  <Relationship Id="rId3" Type="http://schemas.openxmlformats.org/officeDocument/2006/relationships/image" Target="../media/image2.png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2.xml"/>
  <Relationship Id="rId3" Type="http://schemas.openxmlformats.org/officeDocument/2006/relationships/image" Target="../media/image1.jpg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  <Relationship Id="rId3" Type="http://schemas.openxmlformats.org/officeDocument/2006/relationships/image" Target="../media/image2.png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<Relationship Id="rId3" Type="http://schemas.openxmlformats.org/officeDocument/2006/relationships/image" Target="../media/image1.jpg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<Relationship Id="rId3" Type="http://schemas.openxmlformats.org/officeDocument/2006/relationships/image" Target="../media/image1.jpg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<Relationship Id="rId3" Type="http://schemas.openxmlformats.org/officeDocument/2006/relationships/image" Target="../media/image1.jpg"/>
</Relationships>
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CrowdBuild: Real Estate Crowdfunding Platform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Parth Sarova | FinTech Web Platform | HTML5, CSS3 &amp; JavaScript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Group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01" name="Title"/>
          <p:cNvSpPr txBox="1"/>
          <p:nvPr/>
        </p:nvSpPr>
        <p:spPr>
          <a:xfrm>
            <a:off x="311700" y="140000"/>
            <a:ext cx="8520600" cy="450000"/>
          </a:xfrm>
          <a:prstGeom prst="rect">
            <a:avLst/>
          </a:prstGeom>
          <a:noFill/>
        </p:spPr>
        <p:txBody>
          <a:bodyPr anchor="ctr" lIns="91425" rIns="91425" tIns="45720" bIns="45720" wrap="square">
            <a:normAutofit/>
          </a:bodyPr>
          <a:lstStyle/>
          <a:p>
            <a:pPr algn="l">
              <a:buNone/>
            </a:pPr>
            <a:r>
              <a:rPr lang="en-GB" sz="2800" b="1">
                <a:solidFill>
                  <a:srgbClr val="A81B50"/>
                </a:solidFill>
              </a:rPr>
              <a:t>Mind Map</a:t>
            </a:r>
          </a:p>
        </p:txBody>
      </p:sp>
      <!-- CENTER NODE -->
      <p:sp>
        <p:nvSpPr>
          <p:cNvPr id="202" name="Center"/>
          <p:cNvSpPr txBox="0"/>
          <p:nvPr/>
        </p:nvSpPr>
        <p:spPr>
          <a:xfrm>
            <a:off x="3572000" y="2000000"/>
            <a:ext cx="2000000" cy="900000"/>
          </a:xfrm>
          <a:prstGeom prst="ellipse">
            <a:avLst/>
          </a:prstGeom>
          <a:solidFill>
            <a:srgbClr val="A81B50"/>
          </a:solidFill>
          <a:ln w="0">
            <a:noFill/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FFFFFF"/>
                </a:solidFill>
              </a:rPr>
              <a:t>CrowdBuild</a:t>
            </a:r>
          </a:p>
          <a:p>
            <a:pPr algn="ctr">
              <a:buNone/>
            </a:pPr>
            <a:r>
              <a:rPr lang="en-GB" sz="900">
                <a:solidFill>
                  <a:srgbClr val="FDEEF3"/>
                </a:solidFill>
              </a:rPr>
              <a:t>Real Estate</a:t>
            </a:r>
          </a:p>
          <a:p>
            <a:pPr algn="ctr">
              <a:buNone/>
            </a:pPr>
            <a:r>
              <a:rPr lang="en-GB" sz="900">
                <a:solidFill>
                  <a:srgbClr val="FDEEF3"/>
                </a:solidFill>
              </a:rPr>
              <a:t>Crowdfunding</a:t>
            </a:r>
          </a:p>
        </p:txBody>
      </p:sp>
      <!-- TOP LEFT: Problem -->
      <p:sp>
        <p:nvSpPr>
          <p:cNvPr id="211" name="B1"/>
          <p:cNvSpPr txBox="0"/>
          <p:nvPr/>
        </p:nvSpPr>
        <p:spPr>
          <a:xfrm>
            <a:off x="700000" y="780000"/>
            <a:ext cx="1700000" cy="60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Problem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Restricted Access | No Tools</a:t>
            </a:r>
          </a:p>
        </p:txBody>
      </p:sp>
      <!-- TOP RIGHT: Solution -->
      <p:sp>
        <p:nvSpPr>
          <p:cNvPr id="221" name="B2"/>
          <p:cNvSpPr txBox="0"/>
          <p:nvPr/>
        </p:nvSpPr>
        <p:spPr>
          <a:xfrm>
            <a:off x="5744000" y="780000"/>
            <a:ext cx="1700000" cy="60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Solution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Democratized | ROI Tool</a:t>
            </a:r>
          </a:p>
        </p:txBody>
      </p:sp>
      <!-- LEFT: Tech Stack -->
      <p:sp>
        <p:nvSpPr>
          <p:cNvPr id="231" name="B3"/>
          <p:cNvSpPr txBox="0"/>
          <p:nvPr/>
        </p:nvSpPr>
        <p:spPr>
          <a:xfrm>
            <a:off x="128600" y="2100000"/>
            <a:ext cx="1700000" cy="60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Tech Stack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HTML5 | CSS3 | JavaScript</a:t>
            </a:r>
          </a:p>
        </p:txBody>
      </p:sp>
      <!-- RIGHT: Dashboard -->
      <p:sp>
        <p:nvSpPr>
          <p:cNvPr id="241" name="B4"/>
          <p:cNvSpPr txBox="0"/>
          <p:nvPr/>
        </p:nvSpPr>
        <p:spPr>
          <a:xfrm>
            <a:off x="7315400" y="2100000"/>
            <a:ext cx="1700000" cy="60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Dashboard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Track | Progress Bars</a:t>
            </a:r>
          </a:p>
        </p:txBody>
      </p:sp>
      <!-- BOTTOM LEFT: Investment Flow -->
      <p:sp>
        <p:nvSpPr>
          <p:cNvPr id="251" name="B5"/>
          <p:cNvSpPr txBox="0"/>
          <p:nvPr/>
        </p:nvSpPr>
        <p:spPr>
          <a:xfrm>
            <a:off x="700000" y="3450000"/>
            <a:ext cx="1700000" cy="60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Investment Flow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Pool Funds | Validate</a:t>
            </a:r>
          </a:p>
        </p:txBody>
      </p:sp>
      <!-- BOTTOM RIGHT: ROI Estimator -->
      <p:sp>
        <p:nvSpPr>
          <p:cNvPr id="261" name="B6"/>
          <p:cNvSpPr txBox="0"/>
          <p:nvPr/>
        </p:nvSpPr>
        <p:spPr>
          <a:xfrm>
            <a:off x="5744000" y="3450000"/>
            <a:ext cx="1700000" cy="60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ROI Estimator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Real-time | Risk Assessment</a:t>
            </a:r>
          </a:p>
        </p:txBody>
      </p:sp>
      <!-- CONNECTOR LINES -->
      <p:sp>
        <p:nvSpPr>
          <p:cNvPr id="301" name="L1"/>
          <p:cNvSpPr txBox="0"/>
          <p:nvPr/>
        </p:nvSpPr>
        <p:spPr>
          <a:xfrm rot="-2880000">
            <a:off x="2200000" y="1230000"/>
            <a:ext cx="1600000" cy="55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L2"/>
          <p:cNvSpPr txBox="0"/>
          <p:nvPr/>
        </p:nvSpPr>
        <p:spPr>
          <a:xfrm rot="2880000">
            <a:off x="5344000" y="1230000"/>
            <a:ext cx="1600000" cy="55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L3"/>
          <p:cNvSpPr txBox="0"/>
          <p:nvPr/>
        </p:nvSpPr>
        <p:spPr>
          <a:xfrm>
            <a:off x="1828600" y="2370000"/>
            <a:ext cx="1743400" cy="55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L4"/>
          <p:cNvSpPr txBox="0"/>
          <p:nvPr/>
        </p:nvSpPr>
        <p:spPr>
          <a:xfrm>
            <a:off x="5572000" y="2370000"/>
            <a:ext cx="1743400" cy="55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L5"/>
          <p:cNvSpPr txBox="0"/>
          <p:nvPr/>
        </p:nvSpPr>
        <p:spPr>
          <a:xfrm rot="2880000">
            <a:off x="2200000" y="2980000"/>
            <a:ext cx="1600000" cy="55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6" name="L6"/>
          <p:cNvSpPr txBox="0"/>
          <p:nvPr/>
        </p:nvSpPr>
        <p:spPr>
          <a:xfrm rot="-2880000">
            <a:off x="5344000" y="2980000"/>
            <a:ext cx="1600000" cy="55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chemeClr val="lt1"/>
                </a:solidFill>
              </a:rPr>
              <a:t>Parth Sarova | FinTech Web Platform | ITM Skills University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Restricted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Commercial real estate has traditionally been restricted to ultra-wealthy individuals and large corporations due to massive capital requirements.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Lack of 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Everyday small investors lack access to high-yield property markets and transparent tools to calculate potential returns and risks.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Market Gap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No accessible web platform existed to allow small investors to pool resources and participate in large-scale real estate projects.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Proposed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Democratized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Multiple small investors pool resources into large real estate projects via a fully responsive web-based FinTech platform built with HTML5, CSS3, and JavaScript.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Interactive ROI Estimator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Real-time JavaScript calculator estimates potential returns and performs risk assessment so investors can make informed decisions.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Secure Investment Dashboard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Personalized dashboard tracks total invested capital, active projects, and dynamically updates funding progress bars per investor.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Working: Method &amp; Architecture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Browse &amp; Evaluate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Users view the CSS Grid-based property gallery and use the real-time JavaScript calculator to estimate ROI before committing.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Validate &amp; Invest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Form validation ensures minimum investment thresholds are met before updating the DOM and recording the investment.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Track via Dashboard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</a:rPr>
              <a:t>A personalized dashboard summarizes total invested capital, active projects, and dynamically updates funding progress bars.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